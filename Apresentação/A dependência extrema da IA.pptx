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4E5C9F-154F-90CE-09F9-B97BF5A01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3F4DB9-D377-47C4-082B-C1DB296BD5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844333-B803-38F6-0516-45F13D146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3F4E-AB5F-4581-9837-A391F6A39A86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EEDE9A-1F01-23E4-041B-423EEBBF7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0ADDEC-C47A-13C4-30B6-CACCB33D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37FB7-75FE-4D4F-B057-5291179FEB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8065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40BBE-0135-6F50-776D-3F9286509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A8EE9C-CB18-C901-AF79-0278487E9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891A7A-D86D-125C-2344-8BF111DB8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3F4E-AB5F-4581-9837-A391F6A39A86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23F9A1-01B7-1205-22A0-C9999798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E4FF0E-FFD3-80F7-DC0F-06ABFAB3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37FB7-75FE-4D4F-B057-5291179FEB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076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BA661-BCAD-A32A-4A48-5AC909B3F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CE5FBA-32BF-4CF0-41FC-3E20948E1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67BF87-7DE4-B593-2254-A68821ED2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3F4E-AB5F-4581-9837-A391F6A39A86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271060-5235-DEBE-06B8-C257A8F81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0104A3-DD41-03B5-2118-43AC1301D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37FB7-75FE-4D4F-B057-5291179FEB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387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858CB1-399C-3C98-0B33-C93813CA9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50D303-3308-F1A2-0F09-1EED7BFE6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95CDA9-57E3-BEA3-0AC1-9CD8BDB64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E5E7BD-C188-E023-9C99-19C3EEF84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3F4E-AB5F-4581-9837-A391F6A39A86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2AE3C1-9A4F-224D-09CD-9F9A89D57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E905EB-42D2-FF95-48CC-C1FD44D85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37FB7-75FE-4D4F-B057-5291179FEB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6899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F0DAF-30CE-725B-A48D-E311DE870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4838BA-9DF6-8DBB-1DA5-5FC4C27C3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F40C99-7A0D-213F-8ED6-7378C57D4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7C4CF4A-8904-3A41-9339-D78C65CD4A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0C9C6AD-210E-4E58-EA47-60F90B942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9C0B506-1E1A-6A4B-26B1-CA1A6B1F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3F4E-AB5F-4581-9837-A391F6A39A86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4E09559-744A-114F-F82E-E64DF15B0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54C4B49-6483-688A-EC3D-9915BC9AB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37FB7-75FE-4D4F-B057-5291179FEB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7961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D6541-FA19-4798-2982-F5F0AABFA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E1BE5DF-DC96-55EF-0C5F-3E69C31B5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3F4E-AB5F-4581-9837-A391F6A39A86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E4C6F5F-07E9-77A0-A159-92563E32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F8603FC-7A5C-377C-DF46-048909E93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37FB7-75FE-4D4F-B057-5291179FEB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015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D311026-A5A5-0831-43DD-AE055DA0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3F4E-AB5F-4581-9837-A391F6A39A86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B14DA96-FD6F-4756-26A8-75781CECA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6DF8D1-42D9-9D7E-AEEF-29875CC7D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37FB7-75FE-4D4F-B057-5291179FEB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9274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3D2A8C-66A0-358C-237D-C582F5A1B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172A46-2FD7-2035-F20B-B838B0977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B4B8F7-248A-C865-2E6B-605B6A09A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EA76DE-D536-0221-A123-5759E95D6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3F4E-AB5F-4581-9837-A391F6A39A86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8AE4C10-1D4D-E917-7A8A-E41833CEE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2F4775D-9FF3-C09C-6DA4-8247D17ED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37FB7-75FE-4D4F-B057-5291179FEB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7401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80AC5-68EA-2FB5-D6E8-5BCC36503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F1967C1-CB2C-B15B-8AFE-6E53125B90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F10B7E-86AE-EAAD-4EBC-A1AF393E9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2B60AB-AC09-4693-25EC-4A7A4EDD5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3F4E-AB5F-4581-9837-A391F6A39A86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FA91C7-0167-1269-E87D-15A71FAF0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BEDDEA-D9E2-C665-1738-C55AE793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37FB7-75FE-4D4F-B057-5291179FEB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367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3E4744-C4E8-0EBD-5082-79C6F9989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47957EE-26FB-8080-6A60-98D5FBC50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27BABB-6B41-6D48-36BC-EF3350DC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3F4E-AB5F-4581-9837-A391F6A39A86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8CB481-8075-6985-75AE-20AE9F559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05348B-AB65-80E7-41D5-5F3D60EB5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37FB7-75FE-4D4F-B057-5291179FEB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9504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8D68DFE-8404-F362-2C1A-AFC94FE642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D3687DE-7537-75B9-8152-DC0D88144A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A41B82-B54C-3311-3516-905284B1E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C3F4E-AB5F-4581-9837-A391F6A39A86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B36FF5-2E8D-21B1-E915-66D82EF8A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E5D9A0-1728-7978-9E86-52C7C91B2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37FB7-75FE-4D4F-B057-5291179FEB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9175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46F14EE-CE77-988D-6F75-DF6755C3A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D05556-8E09-21B1-F40B-30E5B8F14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09E4EC-B4E0-2E86-97B7-88F22DEC47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C3F4E-AB5F-4581-9837-A391F6A39A86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59D6A2-503D-0551-6007-49B0B1D64D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603CC9-6FA0-EDC9-C6A2-EBC60DC36D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737FB7-75FE-4D4F-B057-5291179FEB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6075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6C3E23-743D-5D90-659D-27E703714C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4587" y="2589085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pt-BR" sz="4000" dirty="0">
                <a:solidFill>
                  <a:schemeClr val="tx2"/>
                </a:solidFill>
              </a:rPr>
              <a:t>A dependência extrema da 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B36465-1EF8-90C4-CFC0-22F2D3DAF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pt-BR" sz="2000" dirty="0">
                <a:solidFill>
                  <a:schemeClr val="tx2"/>
                </a:solidFill>
              </a:rPr>
              <a:t>Um pensamento de um humano</a:t>
            </a:r>
          </a:p>
        </p:txBody>
      </p:sp>
      <p:pic>
        <p:nvPicPr>
          <p:cNvPr id="7" name="Graphic 6" descr="Brain in head">
            <a:extLst>
              <a:ext uri="{FF2B5EF4-FFF2-40B4-BE49-F238E27FC236}">
                <a16:creationId xmlns:a16="http://schemas.microsoft.com/office/drawing/2014/main" id="{E2838E22-6A6F-738C-C2E4-6E0F79C434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36747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E156DE73-A916-B425-F55C-FEB90C253FA7}"/>
              </a:ext>
            </a:extLst>
          </p:cNvPr>
          <p:cNvSpPr txBox="1"/>
          <p:nvPr/>
        </p:nvSpPr>
        <p:spPr>
          <a:xfrm>
            <a:off x="8153400" y="1128094"/>
            <a:ext cx="3434180" cy="14152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>
                <a:latin typeface="+mj-lt"/>
                <a:ea typeface="+mj-ea"/>
                <a:cs typeface="+mj-cs"/>
              </a:rPr>
              <a:t>Introdução – A Era da Resposta Pronta</a:t>
            </a:r>
          </a:p>
        </p:txBody>
      </p:sp>
      <p:pic>
        <p:nvPicPr>
          <p:cNvPr id="22" name="Picture 11" descr="Linhas que se cruzam no pino">
            <a:extLst>
              <a:ext uri="{FF2B5EF4-FFF2-40B4-BE49-F238E27FC236}">
                <a16:creationId xmlns:a16="http://schemas.microsoft.com/office/drawing/2014/main" id="{F3090538-4DF9-9BE2-5B92-52842C4D2E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295" r="-1" b="-1"/>
          <a:stretch>
            <a:fillRect/>
          </a:stretch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23" name="Straight Connector 15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62058CB7-F827-90F4-1077-A2A3CE38EAB2}"/>
              </a:ext>
            </a:extLst>
          </p:cNvPr>
          <p:cNvSpPr txBox="1"/>
          <p:nvPr/>
        </p:nvSpPr>
        <p:spPr>
          <a:xfrm>
            <a:off x="8153400" y="2543364"/>
            <a:ext cx="3434180" cy="3599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Visual:</a:t>
            </a:r>
            <a:r>
              <a:rPr lang="en-US" sz="1700"/>
              <a:t> Uma imagem de uma bússola digital vs. um mapa de papel.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Ponto Chave:</a:t>
            </a:r>
            <a:r>
              <a:rPr lang="en-US" sz="1700"/>
              <a:t> Estamos vivendo a maior revolução cognitiva da história. A IA não é apenas uma ferramenta; ela se tornou um "copiloto" onipresente.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A Pergunta Provocadora:</a:t>
            </a:r>
            <a:r>
              <a:rPr lang="en-US" sz="1700"/>
              <a:t> O que acontece com o motorista quando o GPS decide o caminho 100% do tempo? Ele ainda sabe dirigir?</a:t>
            </a:r>
          </a:p>
        </p:txBody>
      </p:sp>
    </p:spTree>
    <p:extLst>
      <p:ext uri="{BB962C8B-B14F-4D97-AF65-F5344CB8AC3E}">
        <p14:creationId xmlns:p14="http://schemas.microsoft.com/office/powerpoint/2010/main" val="3646912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33CC5F2D-0ED5-9AE7-5996-54C94FA4B80D}"/>
              </a:ext>
            </a:extLst>
          </p:cNvPr>
          <p:cNvSpPr txBox="1"/>
          <p:nvPr/>
        </p:nvSpPr>
        <p:spPr>
          <a:xfrm>
            <a:off x="8153400" y="1128094"/>
            <a:ext cx="3434180" cy="14152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>
                <a:latin typeface="+mj-lt"/>
                <a:ea typeface="+mj-ea"/>
                <a:cs typeface="+mj-cs"/>
              </a:rPr>
              <a:t>Pilar 1 – A Atrofia do "Músculo" Criativo</a:t>
            </a:r>
          </a:p>
        </p:txBody>
      </p:sp>
      <p:pic>
        <p:nvPicPr>
          <p:cNvPr id="7" name="Picture 6" descr="Luzes Geradas pelo Computador">
            <a:extLst>
              <a:ext uri="{FF2B5EF4-FFF2-40B4-BE49-F238E27FC236}">
                <a16:creationId xmlns:a16="http://schemas.microsoft.com/office/drawing/2014/main" id="{DB3D2E63-5A1A-DF01-13FC-4724D4F8F8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70" r="14420"/>
          <a:stretch>
            <a:fillRect/>
          </a:stretch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9D75BEC4-0842-917B-4DF7-B27B4656DB69}"/>
              </a:ext>
            </a:extLst>
          </p:cNvPr>
          <p:cNvSpPr txBox="1"/>
          <p:nvPr/>
        </p:nvSpPr>
        <p:spPr>
          <a:xfrm>
            <a:off x="8153400" y="2543364"/>
            <a:ext cx="3434180" cy="3599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Conteúdo:</a:t>
            </a:r>
            <a:endParaRPr lang="en-US" sz="170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O Atalho Mental:</a:t>
            </a:r>
            <a:r>
              <a:rPr lang="en-US" sz="1700"/>
              <a:t> Delegar o </a:t>
            </a:r>
            <a:r>
              <a:rPr lang="en-US" sz="1700" i="1"/>
              <a:t>brainstorming</a:t>
            </a:r>
            <a:r>
              <a:rPr lang="en-US" sz="1700"/>
              <a:t> vicia o cérebro em não enfrentar o vazio.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Homogeneização:</a:t>
            </a:r>
            <a:r>
              <a:rPr lang="en-US" sz="1700"/>
              <a:t> Se todos usam o mesmo modelo, as ideias começam a ter o mesmo "sabor".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Insight:</a:t>
            </a:r>
            <a:r>
              <a:rPr lang="en-US" sz="1700"/>
              <a:t> A criatividade nasce do caos e da tentativa e erro. A IA elimina o erro, mas também pode eliminar a originalidade.</a:t>
            </a:r>
          </a:p>
        </p:txBody>
      </p:sp>
    </p:spTree>
    <p:extLst>
      <p:ext uri="{BB962C8B-B14F-4D97-AF65-F5344CB8AC3E}">
        <p14:creationId xmlns:p14="http://schemas.microsoft.com/office/powerpoint/2010/main" val="1489795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A0C2C7E-CFAD-C275-3D24-2187B745C5FB}"/>
              </a:ext>
            </a:extLst>
          </p:cNvPr>
          <p:cNvSpPr txBox="1"/>
          <p:nvPr/>
        </p:nvSpPr>
        <p:spPr>
          <a:xfrm>
            <a:off x="8153400" y="1128094"/>
            <a:ext cx="3434180" cy="14152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>
                <a:latin typeface="+mj-lt"/>
                <a:ea typeface="+mj-ea"/>
                <a:cs typeface="+mj-cs"/>
              </a:rPr>
              <a:t>Pilar 2 – A Armadilha da Autoridade Algorítmica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B4ECB2-4320-75CA-BCAD-8375BE21B0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1" r="24233" b="-1"/>
          <a:stretch>
            <a:fillRect/>
          </a:stretch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18697134-F557-857C-1D2F-54959A1D242D}"/>
              </a:ext>
            </a:extLst>
          </p:cNvPr>
          <p:cNvSpPr txBox="1"/>
          <p:nvPr/>
        </p:nvSpPr>
        <p:spPr>
          <a:xfrm>
            <a:off x="8153400" y="2543364"/>
            <a:ext cx="3434180" cy="3599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Conteúdo:</a:t>
            </a:r>
            <a:endParaRPr lang="en-US" sz="170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Alucinações Aceitas:</a:t>
            </a:r>
            <a:r>
              <a:rPr lang="en-US" sz="1700"/>
              <a:t> O risco de confiar cegamente em dados tecnicamente errados, mas gramaticalmente perfeitos.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Erosão do Pensamento Crítico:</a:t>
            </a:r>
            <a:r>
              <a:rPr lang="en-US" sz="1700"/>
              <a:t> Deixamos de checar fontes porque a resposta veio mastigada.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Citação:</a:t>
            </a:r>
            <a:r>
              <a:rPr lang="en-US" sz="1700"/>
              <a:t> </a:t>
            </a:r>
            <a:r>
              <a:rPr lang="en-US" sz="1700" i="1"/>
              <a:t>"A IA é um excelente assistente, mas um péssimo mestre."</a:t>
            </a: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599138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A23C825-5D87-4832-362A-FC935F7F1BE9}"/>
              </a:ext>
            </a:extLst>
          </p:cNvPr>
          <p:cNvSpPr txBox="1"/>
          <p:nvPr/>
        </p:nvSpPr>
        <p:spPr>
          <a:xfrm>
            <a:off x="8153400" y="1128094"/>
            <a:ext cx="3434180" cy="14152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>
                <a:latin typeface="+mj-lt"/>
                <a:ea typeface="+mj-ea"/>
                <a:cs typeface="+mj-cs"/>
              </a:rPr>
              <a:t>Pilar 3 – O Impacto no Desenvolvimento Profissional</a:t>
            </a:r>
          </a:p>
        </p:txBody>
      </p:sp>
      <p:pic>
        <p:nvPicPr>
          <p:cNvPr id="7" name="Picture 6" descr="Fórmulas matemáticas complexas em um quadro negro">
            <a:extLst>
              <a:ext uri="{FF2B5EF4-FFF2-40B4-BE49-F238E27FC236}">
                <a16:creationId xmlns:a16="http://schemas.microsoft.com/office/drawing/2014/main" id="{A81F3AF2-1B57-2B66-C278-7C693D7D4E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58" r="2734" b="-1"/>
          <a:stretch>
            <a:fillRect/>
          </a:stretch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392666A4-E873-8103-6A00-57A629E0CFFF}"/>
              </a:ext>
            </a:extLst>
          </p:cNvPr>
          <p:cNvSpPr txBox="1"/>
          <p:nvPr/>
        </p:nvSpPr>
        <p:spPr>
          <a:xfrm>
            <a:off x="8153400" y="2543364"/>
            <a:ext cx="3434180" cy="3599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Conteúdo:</a:t>
            </a:r>
            <a:endParaRPr lang="en-US" sz="160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Perda de Fundamentos:</a:t>
            </a:r>
            <a:r>
              <a:rPr lang="en-US" sz="1600"/>
              <a:t> Desenvolvedores que geram código sem entender a lógica por trás dele (o "Copypaste Moderno").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Síndrome do Impostor:</a:t>
            </a:r>
            <a:r>
              <a:rPr lang="en-US" sz="1600"/>
              <a:t> O sentimento de que o sucesso não é seu, mas da ferramenta.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Fragilidade Técnica:</a:t>
            </a:r>
            <a:r>
              <a:rPr lang="en-US" sz="1600"/>
              <a:t> O que acontece quando o sistema cai ou a API muda?</a:t>
            </a:r>
          </a:p>
        </p:txBody>
      </p:sp>
    </p:spTree>
    <p:extLst>
      <p:ext uri="{BB962C8B-B14F-4D97-AF65-F5344CB8AC3E}">
        <p14:creationId xmlns:p14="http://schemas.microsoft.com/office/powerpoint/2010/main" val="2279974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84DD7712-744B-EFE2-CA98-0A4D4C9A2B5D}"/>
              </a:ext>
            </a:extLst>
          </p:cNvPr>
          <p:cNvSpPr txBox="1"/>
          <p:nvPr/>
        </p:nvSpPr>
        <p:spPr>
          <a:xfrm>
            <a:off x="804672" y="2053641"/>
            <a:ext cx="3669161" cy="2760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Pilar 4 – Isolamento e Imediatismo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A62DF64-71A3-0875-5D57-42ED953B4E79}"/>
              </a:ext>
            </a:extLst>
          </p:cNvPr>
          <p:cNvSpPr txBox="1"/>
          <p:nvPr/>
        </p:nvSpPr>
        <p:spPr>
          <a:xfrm>
            <a:off x="6090574" y="801866"/>
            <a:ext cx="5306084" cy="523063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Conteúdo:</a:t>
            </a:r>
            <a:endParaRPr lang="en-US">
              <a:solidFill>
                <a:schemeClr val="tx2"/>
              </a:solidFill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Fim da Colaboração:</a:t>
            </a:r>
            <a:r>
              <a:rPr lang="en-US">
                <a:solidFill>
                  <a:schemeClr val="tx2"/>
                </a:solidFill>
              </a:rPr>
              <a:t> Trocar o debate com colegas por prompts solitários.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Ansiedade da Resposta:</a:t>
            </a:r>
            <a:r>
              <a:rPr lang="en-US">
                <a:solidFill>
                  <a:schemeClr val="tx2"/>
                </a:solidFill>
              </a:rPr>
              <a:t> A perda da paciência com processos humanos lentos e orgânicos.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Conceito:</a:t>
            </a:r>
            <a:r>
              <a:rPr lang="en-US">
                <a:solidFill>
                  <a:schemeClr val="tx2"/>
                </a:solidFill>
              </a:rPr>
              <a:t> A "Solidão Assistida" – cercado de respostas rápidas, mas desconectado da troca humana real.</a:t>
            </a:r>
          </a:p>
        </p:txBody>
      </p:sp>
    </p:spTree>
    <p:extLst>
      <p:ext uri="{BB962C8B-B14F-4D97-AF65-F5344CB8AC3E}">
        <p14:creationId xmlns:p14="http://schemas.microsoft.com/office/powerpoint/2010/main" val="3560068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BD240BE-7A4E-8835-3A57-3007AC9594B6}"/>
              </a:ext>
            </a:extLst>
          </p:cNvPr>
          <p:cNvSpPr txBox="1"/>
          <p:nvPr/>
        </p:nvSpPr>
        <p:spPr>
          <a:xfrm>
            <a:off x="8079978" y="741391"/>
            <a:ext cx="3369234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>
                <a:latin typeface="+mj-lt"/>
                <a:ea typeface="+mj-ea"/>
                <a:cs typeface="+mj-cs"/>
              </a:rPr>
              <a:t>Conclusão – O Caminho do Uso Consciente</a:t>
            </a:r>
          </a:p>
        </p:txBody>
      </p:sp>
      <p:pic>
        <p:nvPicPr>
          <p:cNvPr id="7" name="Picture 6" descr="Luzes Geradas pelo Computador">
            <a:extLst>
              <a:ext uri="{FF2B5EF4-FFF2-40B4-BE49-F238E27FC236}">
                <a16:creationId xmlns:a16="http://schemas.microsoft.com/office/drawing/2014/main" id="{3C1E4EF5-C7D7-B252-5CAC-8FAD14CA72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54" r="15403"/>
          <a:stretch>
            <a:fillRect/>
          </a:stretch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917AB06-A438-03E8-5BE0-A7117FD220D1}"/>
              </a:ext>
            </a:extLst>
          </p:cNvPr>
          <p:cNvSpPr txBox="1"/>
          <p:nvPr/>
        </p:nvSpPr>
        <p:spPr>
          <a:xfrm>
            <a:off x="8079978" y="2533476"/>
            <a:ext cx="3369234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A Solução:</a:t>
            </a:r>
            <a:r>
              <a:rPr lang="en-US" sz="1600"/>
              <a:t> Não é o abandono, mas o </a:t>
            </a:r>
            <a:r>
              <a:rPr lang="en-US" sz="1600" b="1"/>
              <a:t>"Human-in-the-loop"</a:t>
            </a:r>
            <a:r>
              <a:rPr lang="en-US" sz="160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Diretrizes:</a:t>
            </a:r>
            <a:endParaRPr lang="en-US" sz="160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Primeiro o Cérebro:</a:t>
            </a:r>
            <a:r>
              <a:rPr lang="en-US" sz="1600"/>
              <a:t> Tente resolver o problema por 15 minutos antes de abrir a IA.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Validação Ativa:</a:t>
            </a:r>
            <a:r>
              <a:rPr lang="en-US" sz="1600"/>
              <a:t> Nunca aceite uma resposta sem entender o </a:t>
            </a:r>
            <a:r>
              <a:rPr lang="en-US" sz="1600" i="1"/>
              <a:t>porquê</a:t>
            </a:r>
            <a:r>
              <a:rPr lang="en-US" sz="1600"/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Preserve sua Voz:</a:t>
            </a:r>
            <a:r>
              <a:rPr lang="en-US" sz="1600"/>
              <a:t> Use a IA para estruturar, mas coloque sua alma no conteúdo final</a:t>
            </a:r>
          </a:p>
        </p:txBody>
      </p:sp>
    </p:spTree>
    <p:extLst>
      <p:ext uri="{BB962C8B-B14F-4D97-AF65-F5344CB8AC3E}">
        <p14:creationId xmlns:p14="http://schemas.microsoft.com/office/powerpoint/2010/main" val="1039046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9DCC21F-E38E-A75E-6D3F-317F57449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53CB631-BCBD-A557-0A35-027F4B2A4207}"/>
              </a:ext>
            </a:extLst>
          </p:cNvPr>
          <p:cNvSpPr txBox="1"/>
          <p:nvPr/>
        </p:nvSpPr>
        <p:spPr>
          <a:xfrm>
            <a:off x="303943" y="4186823"/>
            <a:ext cx="609760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</a:rPr>
              <a:t>“A tecnologia deve ampliar nossas capacidades, não substituí-las. Mantenha o seu 'curioso interno vivo”</a:t>
            </a:r>
          </a:p>
        </p:txBody>
      </p:sp>
    </p:spTree>
    <p:extLst>
      <p:ext uri="{BB962C8B-B14F-4D97-AF65-F5344CB8AC3E}">
        <p14:creationId xmlns:p14="http://schemas.microsoft.com/office/powerpoint/2010/main" val="41389296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423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do Office</vt:lpstr>
      <vt:lpstr>A dependência extrema da 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Silveira</dc:creator>
  <cp:lastModifiedBy>Daniel Silveira</cp:lastModifiedBy>
  <cp:revision>1</cp:revision>
  <dcterms:created xsi:type="dcterms:W3CDTF">2026-02-21T13:22:32Z</dcterms:created>
  <dcterms:modified xsi:type="dcterms:W3CDTF">2026-02-21T13:57:02Z</dcterms:modified>
</cp:coreProperties>
</file>